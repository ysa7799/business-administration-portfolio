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4A"/>
        </a:solidFill>
      </p:bgPr>
    </p:bg>
    <p:spTree>
      <p:nvGrpSpPr>
        <p:cNvPr id="1" name=""/>
        <p:cNvGrpSpPr/>
        <p:nvPr/>
      </p:nvGrpSpPr>
      <p:grpSpPr>
        <a:xfrm>
          <a:off x="0" y="0"/>
          <a:ext cx="0" cy="0"/>
          <a:chOff x="0" y="0"/>
          <a:chExt cx="0" cy="0"/>
        </a:xfrm>
      </p:grpSpPr>
      <p:sp>
        <p:nvSpPr>
          <p:cNvPr id="2" name="Shape 0"/>
          <p:cNvSpPr/>
          <p:nvPr/>
        </p:nvSpPr>
        <p:spPr>
          <a:xfrm>
            <a:off x="6858000" y="-1280160"/>
            <a:ext cx="4206240" cy="4206240"/>
          </a:xfrm>
          <a:prstGeom prst="ellipse">
            <a:avLst/>
          </a:prstGeom>
          <a:solidFill>
            <a:srgbClr val="4F8FF7">
              <a:alpha val="18000"/>
            </a:srgbClr>
          </a:solidFill>
          <a:ln/>
        </p:spPr>
      </p:sp>
      <p:sp>
        <p:nvSpPr>
          <p:cNvPr id="3" name="Shape 1"/>
          <p:cNvSpPr/>
          <p:nvPr/>
        </p:nvSpPr>
        <p:spPr>
          <a:xfrm>
            <a:off x="8229600" y="2926080"/>
            <a:ext cx="2926080" cy="2926080"/>
          </a:xfrm>
          <a:prstGeom prst="ellipse">
            <a:avLst/>
          </a:prstGeom>
          <a:solidFill>
            <a:srgbClr val="1E2761">
              <a:alpha val="40000"/>
            </a:srgbClr>
          </a:solidFill>
          <a:ln/>
        </p:spPr>
      </p:sp>
      <p:sp>
        <p:nvSpPr>
          <p:cNvPr id="4" name="Text 2"/>
          <p:cNvSpPr/>
          <p:nvPr/>
        </p:nvSpPr>
        <p:spPr>
          <a:xfrm>
            <a:off x="640080" y="960120"/>
            <a:ext cx="7315200" cy="365760"/>
          </a:xfrm>
          <a:prstGeom prst="rect">
            <a:avLst/>
          </a:prstGeom>
          <a:noFill/>
          <a:ln/>
        </p:spPr>
        <p:txBody>
          <a:bodyPr wrap="square" lIns="0" tIns="0" rIns="0" bIns="0" rtlCol="0" anchor="ctr"/>
          <a:lstStyle/>
          <a:p>
            <a:pPr indent="0" marL="0">
              <a:buNone/>
            </a:pPr>
            <a:r>
              <a:rPr lang="en-US" sz="1400" b="1" spc="300" kern="0" dirty="0">
                <a:solidFill>
                  <a:srgbClr val="4F8FF7"/>
                </a:solidFill>
                <a:latin typeface="Calibri" pitchFamily="34" charset="0"/>
                <a:ea typeface="Calibri" pitchFamily="34" charset="-122"/>
                <a:cs typeface="Calibri" pitchFamily="34" charset="-120"/>
              </a:rPr>
              <a:t>BUSINESS ADMINISTRATION · OPERATIONS</a:t>
            </a:r>
            <a:endParaRPr lang="en-US" sz="1400" dirty="0"/>
          </a:p>
        </p:txBody>
      </p:sp>
      <p:sp>
        <p:nvSpPr>
          <p:cNvPr id="5" name="Text 3"/>
          <p:cNvSpPr/>
          <p:nvPr/>
        </p:nvSpPr>
        <p:spPr>
          <a:xfrm>
            <a:off x="640080" y="1371600"/>
            <a:ext cx="7863840" cy="1737360"/>
          </a:xfrm>
          <a:prstGeom prst="rect">
            <a:avLst/>
          </a:prstGeom>
          <a:noFill/>
          <a:ln/>
        </p:spPr>
        <p:txBody>
          <a:bodyPr wrap="square" lIns="0" tIns="0" rIns="0" bIns="0" rtlCol="0" anchor="ctr"/>
          <a:lstStyle/>
          <a:p>
            <a:pPr indent="0" marL="0">
              <a:lnSpc>
                <a:spcPct val="95000"/>
              </a:lnSpc>
              <a:buNone/>
            </a:pPr>
            <a:r>
              <a:rPr lang="en-US" sz="4000" b="1" dirty="0">
                <a:solidFill>
                  <a:srgbClr val="FFFFFF"/>
                </a:solidFill>
                <a:latin typeface="Century Schoolbook" pitchFamily="34" charset="0"/>
                <a:ea typeface="Century Schoolbook" pitchFamily="34" charset="-122"/>
                <a:cs typeface="Century Schoolbook" pitchFamily="34" charset="-120"/>
              </a:rPr>
              <a:t>Shift Handover &amp; Escalation SOP</a:t>
            </a:r>
            <a:endParaRPr lang="en-US" sz="4000" dirty="0"/>
          </a:p>
        </p:txBody>
      </p:sp>
      <p:sp>
        <p:nvSpPr>
          <p:cNvPr id="6" name="Text 4"/>
          <p:cNvSpPr/>
          <p:nvPr/>
        </p:nvSpPr>
        <p:spPr>
          <a:xfrm>
            <a:off x="658368" y="3246120"/>
            <a:ext cx="7680960" cy="822960"/>
          </a:xfrm>
          <a:prstGeom prst="rect">
            <a:avLst/>
          </a:prstGeom>
          <a:noFill/>
          <a:ln/>
        </p:spPr>
        <p:txBody>
          <a:bodyPr wrap="square" lIns="0" tIns="0" rIns="0" bIns="0" rtlCol="0" anchor="ctr"/>
          <a:lstStyle/>
          <a:p>
            <a:pPr indent="0" marL="0">
              <a:buNone/>
            </a:pPr>
            <a:r>
              <a:rPr lang="en-US" sz="1600" dirty="0">
                <a:solidFill>
                  <a:srgbClr val="D9E2EC"/>
                </a:solidFill>
                <a:latin typeface="Calibri" pitchFamily="34" charset="0"/>
                <a:ea typeface="Calibri" pitchFamily="34" charset="-122"/>
                <a:cs typeface="Calibri" pitchFamily="34" charset="-120"/>
              </a:rPr>
              <a:t>A professional Standard Operating Procedure — consistent handovers, severity-based escalation, and an audit trail.</a:t>
            </a:r>
            <a:endParaRPr lang="en-US" sz="1600" dirty="0"/>
          </a:p>
        </p:txBody>
      </p:sp>
      <p:sp>
        <p:nvSpPr>
          <p:cNvPr id="7" name="Text 5"/>
          <p:cNvSpPr/>
          <p:nvPr/>
        </p:nvSpPr>
        <p:spPr>
          <a:xfrm>
            <a:off x="658368" y="4572000"/>
            <a:ext cx="8229600" cy="365760"/>
          </a:xfrm>
          <a:prstGeom prst="rect">
            <a:avLst/>
          </a:prstGeom>
          <a:noFill/>
          <a:ln/>
        </p:spPr>
        <p:txBody>
          <a:bodyPr wrap="square" lIns="0" tIns="0" rIns="0" bIns="0" rtlCol="0" anchor="ctr"/>
          <a:lstStyle/>
          <a:p>
            <a:pPr indent="0" marL="0">
              <a:buNone/>
            </a:pPr>
            <a:r>
              <a:rPr lang="en-US" sz="1200" dirty="0">
                <a:solidFill>
                  <a:srgbClr val="4F8FF7"/>
                </a:solidFill>
                <a:latin typeface="Calibri" pitchFamily="34" charset="0"/>
                <a:ea typeface="Calibri" pitchFamily="34" charset="-122"/>
                <a:cs typeface="Calibri" pitchFamily="34" charset="-120"/>
              </a:rPr>
              <a:t>Yusuf Hakeem · yusufhakeem.app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84048"/>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Century Schoolbook" pitchFamily="34" charset="0"/>
                <a:ea typeface="Century Schoolbook" pitchFamily="34" charset="-122"/>
                <a:cs typeface="Century Schoolbook" pitchFamily="34" charset="-120"/>
              </a:rPr>
              <a:t>Why it matters</a:t>
            </a:r>
            <a:endParaRPr lang="en-US" sz="2800" dirty="0"/>
          </a:p>
        </p:txBody>
      </p:sp>
      <p:sp>
        <p:nvSpPr>
          <p:cNvPr id="3" name="Text 1"/>
          <p:cNvSpPr/>
          <p:nvPr/>
        </p:nvSpPr>
        <p:spPr>
          <a:xfrm>
            <a:off x="548640" y="1234440"/>
            <a:ext cx="4297680" cy="3200400"/>
          </a:xfrm>
          <a:prstGeom prst="rect">
            <a:avLst/>
          </a:prstGeom>
          <a:noFill/>
          <a:ln/>
        </p:spPr>
        <p:txBody>
          <a:bodyPr wrap="square" lIns="0" tIns="0" rIns="0" bIns="0" rtlCol="0" anchor="t"/>
          <a:lstStyle/>
          <a:p>
            <a:pPr indent="0" marL="0">
              <a:lnSpc>
                <a:spcPct val="112000"/>
              </a:lnSpc>
              <a:buNone/>
            </a:pPr>
            <a:r>
              <a:rPr lang="en-US" sz="1450" dirty="0">
                <a:solidFill>
                  <a:srgbClr val="1E293B"/>
                </a:solidFill>
                <a:latin typeface="Calibri" pitchFamily="34" charset="0"/>
                <a:ea typeface="Calibri" pitchFamily="34" charset="-122"/>
                <a:cs typeface="Calibri" pitchFamily="34" charset="-120"/>
              </a:rPr>
              <a:t>When shifts hand over badly, information is lost and incidents reach the wrong person too late. This SOP standardises the handover, defines who escalates what and when, and builds an audit trail — the kind of governance document operations, administration, and facilities teams rely on.</a:t>
            </a:r>
            <a:endParaRPr lang="en-US" sz="1450" dirty="0"/>
          </a:p>
        </p:txBody>
      </p:sp>
      <p:sp>
        <p:nvSpPr>
          <p:cNvPr id="4" name="Shape 2"/>
          <p:cNvSpPr/>
          <p:nvPr/>
        </p:nvSpPr>
        <p:spPr>
          <a:xfrm>
            <a:off x="5212080" y="1280160"/>
            <a:ext cx="3383280" cy="1417320"/>
          </a:xfrm>
          <a:prstGeom prst="roundRect">
            <a:avLst>
              <a:gd name="adj" fmla="val 5806"/>
            </a:avLst>
          </a:prstGeom>
          <a:solidFill>
            <a:srgbClr val="FFFFFF"/>
          </a:solidFill>
          <a:ln w="12700">
            <a:solidFill>
              <a:srgbClr val="E4E9F0"/>
            </a:solidFill>
            <a:prstDash val="solid"/>
          </a:ln>
          <a:effectLst>
            <a:outerShdw sx="100000" sy="100000" kx="0" ky="0" algn="bl" rotWithShape="0" blurRad="114300" dist="38100" dir="5400000">
              <a:srgbClr val="000000">
                <a:alpha val="16000"/>
              </a:srgbClr>
            </a:outerShdw>
          </a:effectLst>
        </p:spPr>
      </p:sp>
      <p:sp>
        <p:nvSpPr>
          <p:cNvPr id="5" name="Text 3"/>
          <p:cNvSpPr/>
          <p:nvPr/>
        </p:nvSpPr>
        <p:spPr>
          <a:xfrm>
            <a:off x="5303520" y="1444752"/>
            <a:ext cx="3200400" cy="685800"/>
          </a:xfrm>
          <a:prstGeom prst="rect">
            <a:avLst/>
          </a:prstGeom>
          <a:noFill/>
          <a:ln/>
        </p:spPr>
        <p:txBody>
          <a:bodyPr wrap="square" lIns="0" tIns="0" rIns="0" bIns="0" rtlCol="0" anchor="ctr"/>
          <a:lstStyle/>
          <a:p>
            <a:pPr algn="ctr" indent="0" marL="0">
              <a:buNone/>
            </a:pPr>
            <a:r>
              <a:rPr lang="en-US" sz="3400" b="1" dirty="0">
                <a:solidFill>
                  <a:srgbClr val="4F8FF7"/>
                </a:solidFill>
                <a:latin typeface="Century Schoolbook" pitchFamily="34" charset="0"/>
                <a:ea typeface="Century Schoolbook" pitchFamily="34" charset="-122"/>
                <a:cs typeface="Century Schoolbook" pitchFamily="34" charset="-120"/>
              </a:rPr>
              <a:t>4</a:t>
            </a:r>
            <a:endParaRPr lang="en-US" sz="3400" dirty="0"/>
          </a:p>
        </p:txBody>
      </p:sp>
      <p:sp>
        <p:nvSpPr>
          <p:cNvPr id="6" name="Text 4"/>
          <p:cNvSpPr/>
          <p:nvPr/>
        </p:nvSpPr>
        <p:spPr>
          <a:xfrm>
            <a:off x="5321808" y="2148840"/>
            <a:ext cx="3163824" cy="45720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severity levels</a:t>
            </a:r>
            <a:endParaRPr lang="en-US" sz="1150" dirty="0"/>
          </a:p>
        </p:txBody>
      </p:sp>
      <p:sp>
        <p:nvSpPr>
          <p:cNvPr id="7" name="Shape 5"/>
          <p:cNvSpPr/>
          <p:nvPr/>
        </p:nvSpPr>
        <p:spPr>
          <a:xfrm>
            <a:off x="5212080" y="2880360"/>
            <a:ext cx="3383280" cy="1417320"/>
          </a:xfrm>
          <a:prstGeom prst="roundRect">
            <a:avLst>
              <a:gd name="adj" fmla="val 5806"/>
            </a:avLst>
          </a:prstGeom>
          <a:solidFill>
            <a:srgbClr val="FFFFFF"/>
          </a:solidFill>
          <a:ln w="12700">
            <a:solidFill>
              <a:srgbClr val="E4E9F0"/>
            </a:solidFill>
            <a:prstDash val="solid"/>
          </a:ln>
          <a:effectLst>
            <a:outerShdw sx="100000" sy="100000" kx="0" ky="0" algn="bl" rotWithShape="0" blurRad="114300" dist="38100" dir="5400000">
              <a:srgbClr val="000000">
                <a:alpha val="16000"/>
              </a:srgbClr>
            </a:outerShdw>
          </a:effectLst>
        </p:spPr>
      </p:sp>
      <p:sp>
        <p:nvSpPr>
          <p:cNvPr id="8" name="Text 6"/>
          <p:cNvSpPr/>
          <p:nvPr/>
        </p:nvSpPr>
        <p:spPr>
          <a:xfrm>
            <a:off x="5303520" y="3044952"/>
            <a:ext cx="3200400" cy="685800"/>
          </a:xfrm>
          <a:prstGeom prst="rect">
            <a:avLst/>
          </a:prstGeom>
          <a:noFill/>
          <a:ln/>
        </p:spPr>
        <p:txBody>
          <a:bodyPr wrap="square" lIns="0" tIns="0" rIns="0" bIns="0" rtlCol="0" anchor="ctr"/>
          <a:lstStyle/>
          <a:p>
            <a:pPr algn="ctr" indent="0" marL="0">
              <a:buNone/>
            </a:pPr>
            <a:r>
              <a:rPr lang="en-US" sz="3400" b="1" dirty="0">
                <a:solidFill>
                  <a:srgbClr val="4F8FF7"/>
                </a:solidFill>
                <a:latin typeface="Century Schoolbook" pitchFamily="34" charset="0"/>
                <a:ea typeface="Century Schoolbook" pitchFamily="34" charset="-122"/>
                <a:cs typeface="Century Schoolbook" pitchFamily="34" charset="-120"/>
              </a:rPr>
              <a:t>12 mo</a:t>
            </a:r>
            <a:endParaRPr lang="en-US" sz="3400" dirty="0"/>
          </a:p>
        </p:txBody>
      </p:sp>
      <p:sp>
        <p:nvSpPr>
          <p:cNvPr id="9" name="Text 7"/>
          <p:cNvSpPr/>
          <p:nvPr/>
        </p:nvSpPr>
        <p:spPr>
          <a:xfrm>
            <a:off x="5321808" y="3749040"/>
            <a:ext cx="3163824" cy="45720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record retention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84048"/>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Century Schoolbook" pitchFamily="34" charset="0"/>
                <a:ea typeface="Century Schoolbook" pitchFamily="34" charset="-122"/>
                <a:cs typeface="Century Schoolbook" pitchFamily="34" charset="-120"/>
              </a:rPr>
              <a:t>Handover procedure</a:t>
            </a:r>
            <a:endParaRPr lang="en-US" sz="2800" dirty="0"/>
          </a:p>
        </p:txBody>
      </p:sp>
      <p:sp>
        <p:nvSpPr>
          <p:cNvPr id="3" name="Shape 1"/>
          <p:cNvSpPr/>
          <p:nvPr/>
        </p:nvSpPr>
        <p:spPr>
          <a:xfrm>
            <a:off x="548640" y="1280160"/>
            <a:ext cx="502920" cy="502920"/>
          </a:xfrm>
          <a:prstGeom prst="ellipse">
            <a:avLst/>
          </a:prstGeom>
          <a:solidFill>
            <a:srgbClr val="4F8FF7"/>
          </a:solidFill>
          <a:ln/>
        </p:spPr>
      </p:sp>
      <p:sp>
        <p:nvSpPr>
          <p:cNvPr id="4" name="Text 2"/>
          <p:cNvSpPr/>
          <p:nvPr/>
        </p:nvSpPr>
        <p:spPr>
          <a:xfrm>
            <a:off x="548640" y="1280160"/>
            <a:ext cx="502920" cy="502920"/>
          </a:xfrm>
          <a:prstGeom prst="rect">
            <a:avLst/>
          </a:prstGeom>
          <a:noFill/>
          <a:ln/>
        </p:spPr>
        <p:txBody>
          <a:bodyPr wrap="square" lIns="0" tIns="0" rIns="0" bIns="0" rtlCol="0" anchor="ctr"/>
          <a:lstStyle/>
          <a:p>
            <a:pPr algn="ctr" indent="0" marL="0">
              <a:buNone/>
            </a:pPr>
            <a:r>
              <a:rPr lang="en-US" sz="1800" b="1" dirty="0">
                <a:solidFill>
                  <a:srgbClr val="14204A"/>
                </a:solidFill>
                <a:latin typeface="Calibri" pitchFamily="34" charset="0"/>
                <a:ea typeface="Calibri" pitchFamily="34" charset="-122"/>
                <a:cs typeface="Calibri" pitchFamily="34" charset="-120"/>
              </a:rPr>
              <a:t>1</a:t>
            </a:r>
            <a:endParaRPr lang="en-US" sz="1800" dirty="0"/>
          </a:p>
        </p:txBody>
      </p:sp>
      <p:sp>
        <p:nvSpPr>
          <p:cNvPr id="5" name="Text 3"/>
          <p:cNvSpPr/>
          <p:nvPr/>
        </p:nvSpPr>
        <p:spPr>
          <a:xfrm>
            <a:off x="1234440" y="1261872"/>
            <a:ext cx="7315200" cy="5486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Finalise  </a:t>
            </a:r>
            <a:pPr indent="0" marL="0">
              <a:buNone/>
            </a:pPr>
            <a:r>
              <a:rPr lang="en-US" sz="1350" dirty="0">
                <a:solidFill>
                  <a:srgbClr val="1E293B"/>
                </a:solidFill>
                <a:latin typeface="Calibri" pitchFamily="34" charset="0"/>
                <a:ea typeface="Calibri" pitchFamily="34" charset="-122"/>
                <a:cs typeface="Calibri" pitchFamily="34" charset="-120"/>
              </a:rPr>
              <a:t>Outgoing operator closes all log entries before shift end</a:t>
            </a:r>
            <a:endParaRPr lang="en-US" sz="1350" dirty="0"/>
          </a:p>
        </p:txBody>
      </p:sp>
      <p:sp>
        <p:nvSpPr>
          <p:cNvPr id="6" name="Shape 4"/>
          <p:cNvSpPr/>
          <p:nvPr/>
        </p:nvSpPr>
        <p:spPr>
          <a:xfrm>
            <a:off x="548640" y="1938528"/>
            <a:ext cx="502920" cy="502920"/>
          </a:xfrm>
          <a:prstGeom prst="ellipse">
            <a:avLst/>
          </a:prstGeom>
          <a:solidFill>
            <a:srgbClr val="4F8FF7"/>
          </a:solidFill>
          <a:ln/>
        </p:spPr>
      </p:sp>
      <p:sp>
        <p:nvSpPr>
          <p:cNvPr id="7" name="Text 5"/>
          <p:cNvSpPr/>
          <p:nvPr/>
        </p:nvSpPr>
        <p:spPr>
          <a:xfrm>
            <a:off x="548640" y="1938528"/>
            <a:ext cx="502920" cy="502920"/>
          </a:xfrm>
          <a:prstGeom prst="rect">
            <a:avLst/>
          </a:prstGeom>
          <a:noFill/>
          <a:ln/>
        </p:spPr>
        <p:txBody>
          <a:bodyPr wrap="square" lIns="0" tIns="0" rIns="0" bIns="0" rtlCol="0" anchor="ctr"/>
          <a:lstStyle/>
          <a:p>
            <a:pPr algn="ctr" indent="0" marL="0">
              <a:buNone/>
            </a:pPr>
            <a:r>
              <a:rPr lang="en-US" sz="1800" b="1" dirty="0">
                <a:solidFill>
                  <a:srgbClr val="14204A"/>
                </a:solidFill>
                <a:latin typeface="Calibri" pitchFamily="34" charset="0"/>
                <a:ea typeface="Calibri" pitchFamily="34" charset="-122"/>
                <a:cs typeface="Calibri" pitchFamily="34" charset="-120"/>
              </a:rPr>
              <a:t>2</a:t>
            </a:r>
            <a:endParaRPr lang="en-US" sz="1800" dirty="0"/>
          </a:p>
        </p:txBody>
      </p:sp>
      <p:sp>
        <p:nvSpPr>
          <p:cNvPr id="8" name="Text 6"/>
          <p:cNvSpPr/>
          <p:nvPr/>
        </p:nvSpPr>
        <p:spPr>
          <a:xfrm>
            <a:off x="1234440" y="1920240"/>
            <a:ext cx="7315200" cy="5486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Review  </a:t>
            </a:r>
            <a:pPr indent="0" marL="0">
              <a:buNone/>
            </a:pPr>
            <a:r>
              <a:rPr lang="en-US" sz="1350" dirty="0">
                <a:solidFill>
                  <a:srgbClr val="1E293B"/>
                </a:solidFill>
                <a:latin typeface="Calibri" pitchFamily="34" charset="0"/>
                <a:ea typeface="Calibri" pitchFamily="34" charset="-122"/>
                <a:cs typeface="Calibri" pitchFamily="34" charset="-120"/>
              </a:rPr>
              <a:t>Both operators review the log, focusing on open items</a:t>
            </a:r>
            <a:endParaRPr lang="en-US" sz="1350" dirty="0"/>
          </a:p>
        </p:txBody>
      </p:sp>
      <p:sp>
        <p:nvSpPr>
          <p:cNvPr id="9" name="Shape 7"/>
          <p:cNvSpPr/>
          <p:nvPr/>
        </p:nvSpPr>
        <p:spPr>
          <a:xfrm>
            <a:off x="548640" y="2596896"/>
            <a:ext cx="502920" cy="502920"/>
          </a:xfrm>
          <a:prstGeom prst="ellipse">
            <a:avLst/>
          </a:prstGeom>
          <a:solidFill>
            <a:srgbClr val="4F8FF7"/>
          </a:solidFill>
          <a:ln/>
        </p:spPr>
      </p:sp>
      <p:sp>
        <p:nvSpPr>
          <p:cNvPr id="10" name="Text 8"/>
          <p:cNvSpPr/>
          <p:nvPr/>
        </p:nvSpPr>
        <p:spPr>
          <a:xfrm>
            <a:off x="548640" y="2596896"/>
            <a:ext cx="502920" cy="502920"/>
          </a:xfrm>
          <a:prstGeom prst="rect">
            <a:avLst/>
          </a:prstGeom>
          <a:noFill/>
          <a:ln/>
        </p:spPr>
        <p:txBody>
          <a:bodyPr wrap="square" lIns="0" tIns="0" rIns="0" bIns="0" rtlCol="0" anchor="ctr"/>
          <a:lstStyle/>
          <a:p>
            <a:pPr algn="ctr" indent="0" marL="0">
              <a:buNone/>
            </a:pPr>
            <a:r>
              <a:rPr lang="en-US" sz="1800" b="1" dirty="0">
                <a:solidFill>
                  <a:srgbClr val="14204A"/>
                </a:solidFill>
                <a:latin typeface="Calibri" pitchFamily="34" charset="0"/>
                <a:ea typeface="Calibri" pitchFamily="34" charset="-122"/>
                <a:cs typeface="Calibri" pitchFamily="34" charset="-120"/>
              </a:rPr>
              <a:t>3</a:t>
            </a:r>
            <a:endParaRPr lang="en-US" sz="1800" dirty="0"/>
          </a:p>
        </p:txBody>
      </p:sp>
      <p:sp>
        <p:nvSpPr>
          <p:cNvPr id="11" name="Text 9"/>
          <p:cNvSpPr/>
          <p:nvPr/>
        </p:nvSpPr>
        <p:spPr>
          <a:xfrm>
            <a:off x="1234440" y="2578608"/>
            <a:ext cx="7315200" cy="5486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Brief  </a:t>
            </a:r>
            <a:pPr indent="0" marL="0">
              <a:buNone/>
            </a:pPr>
            <a:r>
              <a:rPr lang="en-US" sz="1350" dirty="0">
                <a:solidFill>
                  <a:srgbClr val="1E293B"/>
                </a:solidFill>
                <a:latin typeface="Calibri" pitchFamily="34" charset="0"/>
                <a:ea typeface="Calibri" pitchFamily="34" charset="-122"/>
                <a:cs typeface="Calibri" pitchFamily="34" charset="-120"/>
              </a:rPr>
              <a:t>Site status, equipment, access exceptions, incidents in progress</a:t>
            </a:r>
            <a:endParaRPr lang="en-US" sz="1350" dirty="0"/>
          </a:p>
        </p:txBody>
      </p:sp>
      <p:sp>
        <p:nvSpPr>
          <p:cNvPr id="12" name="Shape 10"/>
          <p:cNvSpPr/>
          <p:nvPr/>
        </p:nvSpPr>
        <p:spPr>
          <a:xfrm>
            <a:off x="548640" y="3255264"/>
            <a:ext cx="502920" cy="502920"/>
          </a:xfrm>
          <a:prstGeom prst="ellipse">
            <a:avLst/>
          </a:prstGeom>
          <a:solidFill>
            <a:srgbClr val="4F8FF7"/>
          </a:solidFill>
          <a:ln/>
        </p:spPr>
      </p:sp>
      <p:sp>
        <p:nvSpPr>
          <p:cNvPr id="13" name="Text 11"/>
          <p:cNvSpPr/>
          <p:nvPr/>
        </p:nvSpPr>
        <p:spPr>
          <a:xfrm>
            <a:off x="548640" y="3255264"/>
            <a:ext cx="502920" cy="502920"/>
          </a:xfrm>
          <a:prstGeom prst="rect">
            <a:avLst/>
          </a:prstGeom>
          <a:noFill/>
          <a:ln/>
        </p:spPr>
        <p:txBody>
          <a:bodyPr wrap="square" lIns="0" tIns="0" rIns="0" bIns="0" rtlCol="0" anchor="ctr"/>
          <a:lstStyle/>
          <a:p>
            <a:pPr algn="ctr" indent="0" marL="0">
              <a:buNone/>
            </a:pPr>
            <a:r>
              <a:rPr lang="en-US" sz="1800" b="1" dirty="0">
                <a:solidFill>
                  <a:srgbClr val="14204A"/>
                </a:solidFill>
                <a:latin typeface="Calibri" pitchFamily="34" charset="0"/>
                <a:ea typeface="Calibri" pitchFamily="34" charset="-122"/>
                <a:cs typeface="Calibri" pitchFamily="34" charset="-120"/>
              </a:rPr>
              <a:t>4</a:t>
            </a:r>
            <a:endParaRPr lang="en-US" sz="1800" dirty="0"/>
          </a:p>
        </p:txBody>
      </p:sp>
      <p:sp>
        <p:nvSpPr>
          <p:cNvPr id="14" name="Text 12"/>
          <p:cNvSpPr/>
          <p:nvPr/>
        </p:nvSpPr>
        <p:spPr>
          <a:xfrm>
            <a:off x="1234440" y="3236976"/>
            <a:ext cx="7315200" cy="5486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Sign  </a:t>
            </a:r>
            <a:pPr indent="0" marL="0">
              <a:buNone/>
            </a:pPr>
            <a:r>
              <a:rPr lang="en-US" sz="1350" dirty="0">
                <a:solidFill>
                  <a:srgbClr val="1E293B"/>
                </a:solidFill>
                <a:latin typeface="Calibri" pitchFamily="34" charset="0"/>
                <a:ea typeface="Calibri" pitchFamily="34" charset="-122"/>
                <a:cs typeface="Calibri" pitchFamily="34" charset="-120"/>
              </a:rPr>
              <a:t>Both sign the handover record; supervisor countersigns</a:t>
            </a:r>
            <a:endParaRPr lang="en-US" sz="1350" dirty="0"/>
          </a:p>
        </p:txBody>
      </p:sp>
      <p:sp>
        <p:nvSpPr>
          <p:cNvPr id="15" name="Shape 13"/>
          <p:cNvSpPr/>
          <p:nvPr/>
        </p:nvSpPr>
        <p:spPr>
          <a:xfrm>
            <a:off x="548640" y="3913632"/>
            <a:ext cx="502920" cy="502920"/>
          </a:xfrm>
          <a:prstGeom prst="ellipse">
            <a:avLst/>
          </a:prstGeom>
          <a:solidFill>
            <a:srgbClr val="4F8FF7"/>
          </a:solidFill>
          <a:ln/>
        </p:spPr>
      </p:sp>
      <p:sp>
        <p:nvSpPr>
          <p:cNvPr id="16" name="Text 14"/>
          <p:cNvSpPr/>
          <p:nvPr/>
        </p:nvSpPr>
        <p:spPr>
          <a:xfrm>
            <a:off x="548640" y="3913632"/>
            <a:ext cx="502920" cy="502920"/>
          </a:xfrm>
          <a:prstGeom prst="rect">
            <a:avLst/>
          </a:prstGeom>
          <a:noFill/>
          <a:ln/>
        </p:spPr>
        <p:txBody>
          <a:bodyPr wrap="square" lIns="0" tIns="0" rIns="0" bIns="0" rtlCol="0" anchor="ctr"/>
          <a:lstStyle/>
          <a:p>
            <a:pPr algn="ctr" indent="0" marL="0">
              <a:buNone/>
            </a:pPr>
            <a:r>
              <a:rPr lang="en-US" sz="1800" b="1" dirty="0">
                <a:solidFill>
                  <a:srgbClr val="14204A"/>
                </a:solidFill>
                <a:latin typeface="Calibri" pitchFamily="34" charset="0"/>
                <a:ea typeface="Calibri" pitchFamily="34" charset="-122"/>
                <a:cs typeface="Calibri" pitchFamily="34" charset="-120"/>
              </a:rPr>
              <a:t>5</a:t>
            </a:r>
            <a:endParaRPr lang="en-US" sz="1800" dirty="0"/>
          </a:p>
        </p:txBody>
      </p:sp>
      <p:sp>
        <p:nvSpPr>
          <p:cNvPr id="17" name="Text 15"/>
          <p:cNvSpPr/>
          <p:nvPr/>
        </p:nvSpPr>
        <p:spPr>
          <a:xfrm>
            <a:off x="1234440" y="3895344"/>
            <a:ext cx="7315200" cy="5486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Flag  </a:t>
            </a:r>
            <a:pPr indent="0" marL="0">
              <a:buNone/>
            </a:pPr>
            <a:r>
              <a:rPr lang="en-US" sz="1350" dirty="0">
                <a:solidFill>
                  <a:srgbClr val="1E293B"/>
                </a:solidFill>
                <a:latin typeface="Calibri" pitchFamily="34" charset="0"/>
                <a:ea typeface="Calibri" pitchFamily="34" charset="-122"/>
                <a:cs typeface="Calibri" pitchFamily="34" charset="-120"/>
              </a:rPr>
              <a:t>Open items get an owner and expected resolution time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84048"/>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Century Schoolbook" pitchFamily="34" charset="0"/>
                <a:ea typeface="Century Schoolbook" pitchFamily="34" charset="-122"/>
                <a:cs typeface="Century Schoolbook" pitchFamily="34" charset="-120"/>
              </a:rPr>
              <a:t>Escalation matrix</a:t>
            </a:r>
            <a:endParaRPr lang="en-US" sz="2800" dirty="0"/>
          </a:p>
        </p:txBody>
      </p:sp>
      <p:sp>
        <p:nvSpPr>
          <p:cNvPr id="3" name="Shape 1"/>
          <p:cNvSpPr/>
          <p:nvPr/>
        </p:nvSpPr>
        <p:spPr>
          <a:xfrm>
            <a:off x="548640" y="1234440"/>
            <a:ext cx="4023360" cy="1417320"/>
          </a:xfrm>
          <a:prstGeom prst="roundRect">
            <a:avLst>
              <a:gd name="adj" fmla="val 5806"/>
            </a:avLst>
          </a:prstGeom>
          <a:solidFill>
            <a:srgbClr val="FFFFFF"/>
          </a:solidFill>
          <a:ln w="12700">
            <a:solidFill>
              <a:srgbClr val="E4E9F0"/>
            </a:solidFill>
            <a:prstDash val="solid"/>
          </a:ln>
          <a:effectLst>
            <a:outerShdw sx="100000" sy="100000" kx="0" ky="0" algn="bl" rotWithShape="0" blurRad="114300" dist="38100" dir="5400000">
              <a:srgbClr val="000000">
                <a:alpha val="16000"/>
              </a:srgbClr>
            </a:outerShdw>
          </a:effectLst>
        </p:spPr>
      </p:sp>
      <p:sp>
        <p:nvSpPr>
          <p:cNvPr id="4" name="Text 2"/>
          <p:cNvSpPr/>
          <p:nvPr/>
        </p:nvSpPr>
        <p:spPr>
          <a:xfrm>
            <a:off x="749808" y="1380744"/>
            <a:ext cx="3621024" cy="365760"/>
          </a:xfrm>
          <a:prstGeom prst="rect">
            <a:avLst/>
          </a:prstGeom>
          <a:noFill/>
          <a:ln/>
        </p:spPr>
        <p:txBody>
          <a:bodyPr wrap="square" lIns="0" tIns="0" rIns="0" bIns="0" rtlCol="0" anchor="ctr"/>
          <a:lstStyle/>
          <a:p>
            <a:pPr indent="0" marL="0">
              <a:buNone/>
            </a:pPr>
            <a:r>
              <a:rPr lang="en-US" sz="1400" b="1" dirty="0">
                <a:solidFill>
                  <a:srgbClr val="4F8FF7"/>
                </a:solidFill>
                <a:latin typeface="Calibri" pitchFamily="34" charset="0"/>
                <a:ea typeface="Calibri" pitchFamily="34" charset="-122"/>
                <a:cs typeface="Calibri" pitchFamily="34" charset="-120"/>
              </a:rPr>
              <a:t>S1 — Minor</a:t>
            </a:r>
            <a:endParaRPr lang="en-US" sz="1400" dirty="0"/>
          </a:p>
        </p:txBody>
      </p:sp>
      <p:sp>
        <p:nvSpPr>
          <p:cNvPr id="5" name="Text 3"/>
          <p:cNvSpPr/>
          <p:nvPr/>
        </p:nvSpPr>
        <p:spPr>
          <a:xfrm>
            <a:off x="749808" y="1783080"/>
            <a:ext cx="3621024" cy="731520"/>
          </a:xfrm>
          <a:prstGeom prst="rect">
            <a:avLst/>
          </a:prstGeom>
          <a:noFill/>
          <a:ln/>
        </p:spPr>
        <p:txBody>
          <a:bodyPr wrap="square" lIns="0" tIns="0" rIns="0" bIns="0" rtlCol="0" anchor="t"/>
          <a:lstStyle/>
          <a:p>
            <a:pPr indent="0" marL="0">
              <a:lnSpc>
                <a:spcPct val="102000"/>
              </a:lnSpc>
              <a:buNone/>
            </a:pPr>
            <a:r>
              <a:rPr lang="en-US" sz="1250" dirty="0">
                <a:solidFill>
                  <a:srgbClr val="1E293B"/>
                </a:solidFill>
                <a:latin typeface="Calibri" pitchFamily="34" charset="0"/>
                <a:ea typeface="Calibri" pitchFamily="34" charset="-122"/>
                <a:cs typeface="Calibri" pitchFamily="34" charset="-120"/>
              </a:rPr>
              <a:t>Log only; note at handover. Same shift.</a:t>
            </a:r>
            <a:endParaRPr lang="en-US" sz="1250" dirty="0"/>
          </a:p>
        </p:txBody>
      </p:sp>
      <p:sp>
        <p:nvSpPr>
          <p:cNvPr id="6" name="Shape 4"/>
          <p:cNvSpPr/>
          <p:nvPr/>
        </p:nvSpPr>
        <p:spPr>
          <a:xfrm>
            <a:off x="4892040" y="1234440"/>
            <a:ext cx="4023360" cy="1417320"/>
          </a:xfrm>
          <a:prstGeom prst="roundRect">
            <a:avLst>
              <a:gd name="adj" fmla="val 5806"/>
            </a:avLst>
          </a:prstGeom>
          <a:solidFill>
            <a:srgbClr val="FFFFFF"/>
          </a:solidFill>
          <a:ln w="12700">
            <a:solidFill>
              <a:srgbClr val="E4E9F0"/>
            </a:solidFill>
            <a:prstDash val="solid"/>
          </a:ln>
          <a:effectLst>
            <a:outerShdw sx="100000" sy="100000" kx="0" ky="0" algn="bl" rotWithShape="0" blurRad="114300" dist="38100" dir="5400000">
              <a:srgbClr val="000000">
                <a:alpha val="16000"/>
              </a:srgbClr>
            </a:outerShdw>
          </a:effectLst>
        </p:spPr>
      </p:sp>
      <p:sp>
        <p:nvSpPr>
          <p:cNvPr id="7" name="Text 5"/>
          <p:cNvSpPr/>
          <p:nvPr/>
        </p:nvSpPr>
        <p:spPr>
          <a:xfrm>
            <a:off x="5093208" y="1380744"/>
            <a:ext cx="3621024" cy="365760"/>
          </a:xfrm>
          <a:prstGeom prst="rect">
            <a:avLst/>
          </a:prstGeom>
          <a:noFill/>
          <a:ln/>
        </p:spPr>
        <p:txBody>
          <a:bodyPr wrap="square" lIns="0" tIns="0" rIns="0" bIns="0" rtlCol="0" anchor="ctr"/>
          <a:lstStyle/>
          <a:p>
            <a:pPr indent="0" marL="0">
              <a:buNone/>
            </a:pPr>
            <a:r>
              <a:rPr lang="en-US" sz="1400" b="1" dirty="0">
                <a:solidFill>
                  <a:srgbClr val="4F8FF7"/>
                </a:solidFill>
                <a:latin typeface="Calibri" pitchFamily="34" charset="0"/>
                <a:ea typeface="Calibri" pitchFamily="34" charset="-122"/>
                <a:cs typeface="Calibri" pitchFamily="34" charset="-120"/>
              </a:rPr>
              <a:t>S2 — Moderate</a:t>
            </a:r>
            <a:endParaRPr lang="en-US" sz="1400" dirty="0"/>
          </a:p>
        </p:txBody>
      </p:sp>
      <p:sp>
        <p:nvSpPr>
          <p:cNvPr id="8" name="Text 6"/>
          <p:cNvSpPr/>
          <p:nvPr/>
        </p:nvSpPr>
        <p:spPr>
          <a:xfrm>
            <a:off x="5093208" y="1783080"/>
            <a:ext cx="3621024" cy="731520"/>
          </a:xfrm>
          <a:prstGeom prst="rect">
            <a:avLst/>
          </a:prstGeom>
          <a:noFill/>
          <a:ln/>
        </p:spPr>
        <p:txBody>
          <a:bodyPr wrap="square" lIns="0" tIns="0" rIns="0" bIns="0" rtlCol="0" anchor="t"/>
          <a:lstStyle/>
          <a:p>
            <a:pPr indent="0" marL="0">
              <a:lnSpc>
                <a:spcPct val="102000"/>
              </a:lnSpc>
              <a:buNone/>
            </a:pPr>
            <a:r>
              <a:rPr lang="en-US" sz="1250" dirty="0">
                <a:solidFill>
                  <a:srgbClr val="1E293B"/>
                </a:solidFill>
                <a:latin typeface="Calibri" pitchFamily="34" charset="0"/>
                <a:ea typeface="Calibri" pitchFamily="34" charset="-122"/>
                <a:cs typeface="Calibri" pitchFamily="34" charset="-120"/>
              </a:rPr>
              <a:t>Notify Shift Supervisor within 30 minutes.</a:t>
            </a:r>
            <a:endParaRPr lang="en-US" sz="1250" dirty="0"/>
          </a:p>
        </p:txBody>
      </p:sp>
      <p:sp>
        <p:nvSpPr>
          <p:cNvPr id="9" name="Shape 7"/>
          <p:cNvSpPr/>
          <p:nvPr/>
        </p:nvSpPr>
        <p:spPr>
          <a:xfrm>
            <a:off x="548640" y="2926080"/>
            <a:ext cx="4023360" cy="1417320"/>
          </a:xfrm>
          <a:prstGeom prst="roundRect">
            <a:avLst>
              <a:gd name="adj" fmla="val 5806"/>
            </a:avLst>
          </a:prstGeom>
          <a:solidFill>
            <a:srgbClr val="FFFFFF"/>
          </a:solidFill>
          <a:ln w="12700">
            <a:solidFill>
              <a:srgbClr val="E4E9F0"/>
            </a:solidFill>
            <a:prstDash val="solid"/>
          </a:ln>
          <a:effectLst>
            <a:outerShdw sx="100000" sy="100000" kx="0" ky="0" algn="bl" rotWithShape="0" blurRad="114300" dist="38100" dir="5400000">
              <a:srgbClr val="000000">
                <a:alpha val="16000"/>
              </a:srgbClr>
            </a:outerShdw>
          </a:effectLst>
        </p:spPr>
      </p:sp>
      <p:sp>
        <p:nvSpPr>
          <p:cNvPr id="10" name="Text 8"/>
          <p:cNvSpPr/>
          <p:nvPr/>
        </p:nvSpPr>
        <p:spPr>
          <a:xfrm>
            <a:off x="749808" y="3072384"/>
            <a:ext cx="3621024" cy="365760"/>
          </a:xfrm>
          <a:prstGeom prst="rect">
            <a:avLst/>
          </a:prstGeom>
          <a:noFill/>
          <a:ln/>
        </p:spPr>
        <p:txBody>
          <a:bodyPr wrap="square" lIns="0" tIns="0" rIns="0" bIns="0" rtlCol="0" anchor="ctr"/>
          <a:lstStyle/>
          <a:p>
            <a:pPr indent="0" marL="0">
              <a:buNone/>
            </a:pPr>
            <a:r>
              <a:rPr lang="en-US" sz="1400" b="1" dirty="0">
                <a:solidFill>
                  <a:srgbClr val="4F8FF7"/>
                </a:solidFill>
                <a:latin typeface="Calibri" pitchFamily="34" charset="0"/>
                <a:ea typeface="Calibri" pitchFamily="34" charset="-122"/>
                <a:cs typeface="Calibri" pitchFamily="34" charset="-120"/>
              </a:rPr>
              <a:t>S3 — Major</a:t>
            </a:r>
            <a:endParaRPr lang="en-US" sz="1400" dirty="0"/>
          </a:p>
        </p:txBody>
      </p:sp>
      <p:sp>
        <p:nvSpPr>
          <p:cNvPr id="11" name="Text 9"/>
          <p:cNvSpPr/>
          <p:nvPr/>
        </p:nvSpPr>
        <p:spPr>
          <a:xfrm>
            <a:off x="749808" y="3474720"/>
            <a:ext cx="3621024" cy="731520"/>
          </a:xfrm>
          <a:prstGeom prst="rect">
            <a:avLst/>
          </a:prstGeom>
          <a:noFill/>
          <a:ln/>
        </p:spPr>
        <p:txBody>
          <a:bodyPr wrap="square" lIns="0" tIns="0" rIns="0" bIns="0" rtlCol="0" anchor="t"/>
          <a:lstStyle/>
          <a:p>
            <a:pPr indent="0" marL="0">
              <a:lnSpc>
                <a:spcPct val="102000"/>
              </a:lnSpc>
              <a:buNone/>
            </a:pPr>
            <a:r>
              <a:rPr lang="en-US" sz="1250" dirty="0">
                <a:solidFill>
                  <a:srgbClr val="1E293B"/>
                </a:solidFill>
                <a:latin typeface="Calibri" pitchFamily="34" charset="0"/>
                <a:ea typeface="Calibri" pitchFamily="34" charset="-122"/>
                <a:cs typeface="Calibri" pitchFamily="34" charset="-120"/>
              </a:rPr>
              <a:t>Duty Manager + Supervisor immediately (≤10 min).</a:t>
            </a:r>
            <a:endParaRPr lang="en-US" sz="1250" dirty="0"/>
          </a:p>
        </p:txBody>
      </p:sp>
      <p:sp>
        <p:nvSpPr>
          <p:cNvPr id="12" name="Shape 10"/>
          <p:cNvSpPr/>
          <p:nvPr/>
        </p:nvSpPr>
        <p:spPr>
          <a:xfrm>
            <a:off x="4892040" y="2926080"/>
            <a:ext cx="4023360" cy="1417320"/>
          </a:xfrm>
          <a:prstGeom prst="roundRect">
            <a:avLst>
              <a:gd name="adj" fmla="val 5806"/>
            </a:avLst>
          </a:prstGeom>
          <a:solidFill>
            <a:srgbClr val="FFFFFF"/>
          </a:solidFill>
          <a:ln w="12700">
            <a:solidFill>
              <a:srgbClr val="E4E9F0"/>
            </a:solidFill>
            <a:prstDash val="solid"/>
          </a:ln>
          <a:effectLst>
            <a:outerShdw sx="100000" sy="100000" kx="0" ky="0" algn="bl" rotWithShape="0" blurRad="114300" dist="38100" dir="5400000">
              <a:srgbClr val="000000">
                <a:alpha val="16000"/>
              </a:srgbClr>
            </a:outerShdw>
          </a:effectLst>
        </p:spPr>
      </p:sp>
      <p:sp>
        <p:nvSpPr>
          <p:cNvPr id="13" name="Text 11"/>
          <p:cNvSpPr/>
          <p:nvPr/>
        </p:nvSpPr>
        <p:spPr>
          <a:xfrm>
            <a:off x="5093208" y="3072384"/>
            <a:ext cx="3621024" cy="365760"/>
          </a:xfrm>
          <a:prstGeom prst="rect">
            <a:avLst/>
          </a:prstGeom>
          <a:noFill/>
          <a:ln/>
        </p:spPr>
        <p:txBody>
          <a:bodyPr wrap="square" lIns="0" tIns="0" rIns="0" bIns="0" rtlCol="0" anchor="ctr"/>
          <a:lstStyle/>
          <a:p>
            <a:pPr indent="0" marL="0">
              <a:buNone/>
            </a:pPr>
            <a:r>
              <a:rPr lang="en-US" sz="1400" b="1" dirty="0">
                <a:solidFill>
                  <a:srgbClr val="4F8FF7"/>
                </a:solidFill>
                <a:latin typeface="Calibri" pitchFamily="34" charset="0"/>
                <a:ea typeface="Calibri" pitchFamily="34" charset="-122"/>
                <a:cs typeface="Calibri" pitchFamily="34" charset="-120"/>
              </a:rPr>
              <a:t>S4 — Critical</a:t>
            </a:r>
            <a:endParaRPr lang="en-US" sz="1400" dirty="0"/>
          </a:p>
        </p:txBody>
      </p:sp>
      <p:sp>
        <p:nvSpPr>
          <p:cNvPr id="14" name="Text 12"/>
          <p:cNvSpPr/>
          <p:nvPr/>
        </p:nvSpPr>
        <p:spPr>
          <a:xfrm>
            <a:off x="5093208" y="3474720"/>
            <a:ext cx="3621024" cy="731520"/>
          </a:xfrm>
          <a:prstGeom prst="rect">
            <a:avLst/>
          </a:prstGeom>
          <a:noFill/>
          <a:ln/>
        </p:spPr>
        <p:txBody>
          <a:bodyPr wrap="square" lIns="0" tIns="0" rIns="0" bIns="0" rtlCol="0" anchor="t"/>
          <a:lstStyle/>
          <a:p>
            <a:pPr indent="0" marL="0">
              <a:lnSpc>
                <a:spcPct val="102000"/>
              </a:lnSpc>
              <a:buNone/>
            </a:pPr>
            <a:r>
              <a:rPr lang="en-US" sz="1250" dirty="0">
                <a:solidFill>
                  <a:srgbClr val="1E293B"/>
                </a:solidFill>
                <a:latin typeface="Calibri" pitchFamily="34" charset="0"/>
                <a:ea typeface="Calibri" pitchFamily="34" charset="-122"/>
                <a:cs typeface="Calibri" pitchFamily="34" charset="-120"/>
              </a:rPr>
              <a:t>Emergency services + Duty Manager, then log.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84048"/>
            <a:ext cx="8229600" cy="640080"/>
          </a:xfrm>
          <a:prstGeom prst="rect">
            <a:avLst/>
          </a:prstGeom>
          <a:noFill/>
          <a:ln/>
        </p:spPr>
        <p:txBody>
          <a:bodyPr wrap="square" lIns="0" tIns="0" rIns="0" bIns="0" rtlCol="0" anchor="ctr"/>
          <a:lstStyle/>
          <a:p>
            <a:pPr indent="0" marL="0">
              <a:buNone/>
            </a:pPr>
            <a:r>
              <a:rPr lang="en-US" sz="2800" b="1" dirty="0">
                <a:solidFill>
                  <a:srgbClr val="1E2761"/>
                </a:solidFill>
                <a:latin typeface="Century Schoolbook" pitchFamily="34" charset="0"/>
                <a:ea typeface="Century Schoolbook" pitchFamily="34" charset="-122"/>
                <a:cs typeface="Century Schoolbook" pitchFamily="34" charset="-120"/>
              </a:rPr>
              <a:t>Skills demonstrated</a:t>
            </a:r>
            <a:endParaRPr lang="en-US" sz="2800" dirty="0"/>
          </a:p>
        </p:txBody>
      </p:sp>
      <p:sp>
        <p:nvSpPr>
          <p:cNvPr id="3" name="Text 1"/>
          <p:cNvSpPr/>
          <p:nvPr/>
        </p:nvSpPr>
        <p:spPr>
          <a:xfrm>
            <a:off x="548640" y="1234440"/>
            <a:ext cx="804672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Operations and administration capability:</a:t>
            </a:r>
            <a:endParaRPr lang="en-US" sz="1400" dirty="0"/>
          </a:p>
        </p:txBody>
      </p:sp>
      <p:sp>
        <p:nvSpPr>
          <p:cNvPr id="4" name="Shape 2"/>
          <p:cNvSpPr/>
          <p:nvPr/>
        </p:nvSpPr>
        <p:spPr>
          <a:xfrm>
            <a:off x="548640" y="2057400"/>
            <a:ext cx="1833372" cy="384048"/>
          </a:xfrm>
          <a:prstGeom prst="roundRect">
            <a:avLst>
              <a:gd name="adj" fmla="val 50000"/>
            </a:avLst>
          </a:prstGeom>
          <a:solidFill>
            <a:srgbClr val="1E2761"/>
          </a:solidFill>
          <a:ln/>
        </p:spPr>
      </p:sp>
      <p:sp>
        <p:nvSpPr>
          <p:cNvPr id="5" name="Text 3"/>
          <p:cNvSpPr/>
          <p:nvPr/>
        </p:nvSpPr>
        <p:spPr>
          <a:xfrm>
            <a:off x="548640" y="2057400"/>
            <a:ext cx="1833372"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Process documentation</a:t>
            </a:r>
            <a:endParaRPr lang="en-US" sz="1200" dirty="0"/>
          </a:p>
        </p:txBody>
      </p:sp>
      <p:sp>
        <p:nvSpPr>
          <p:cNvPr id="6" name="Shape 4"/>
          <p:cNvSpPr/>
          <p:nvPr/>
        </p:nvSpPr>
        <p:spPr>
          <a:xfrm>
            <a:off x="2528316" y="2057400"/>
            <a:ext cx="1211580" cy="384048"/>
          </a:xfrm>
          <a:prstGeom prst="roundRect">
            <a:avLst>
              <a:gd name="adj" fmla="val 50000"/>
            </a:avLst>
          </a:prstGeom>
          <a:solidFill>
            <a:srgbClr val="1E2761"/>
          </a:solidFill>
          <a:ln/>
        </p:spPr>
      </p:sp>
      <p:sp>
        <p:nvSpPr>
          <p:cNvPr id="7" name="Text 5"/>
          <p:cNvSpPr/>
          <p:nvPr/>
        </p:nvSpPr>
        <p:spPr>
          <a:xfrm>
            <a:off x="2528316" y="2057400"/>
            <a:ext cx="121158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SOP authoring</a:t>
            </a:r>
            <a:endParaRPr lang="en-US" sz="1200" dirty="0"/>
          </a:p>
        </p:txBody>
      </p:sp>
      <p:sp>
        <p:nvSpPr>
          <p:cNvPr id="8" name="Shape 6"/>
          <p:cNvSpPr/>
          <p:nvPr/>
        </p:nvSpPr>
        <p:spPr>
          <a:xfrm>
            <a:off x="3886200" y="2057400"/>
            <a:ext cx="1522476" cy="384048"/>
          </a:xfrm>
          <a:prstGeom prst="roundRect">
            <a:avLst>
              <a:gd name="adj" fmla="val 50000"/>
            </a:avLst>
          </a:prstGeom>
          <a:solidFill>
            <a:srgbClr val="1E2761"/>
          </a:solidFill>
          <a:ln/>
        </p:spPr>
      </p:sp>
      <p:sp>
        <p:nvSpPr>
          <p:cNvPr id="9" name="Text 7"/>
          <p:cNvSpPr/>
          <p:nvPr/>
        </p:nvSpPr>
        <p:spPr>
          <a:xfrm>
            <a:off x="3886200" y="2057400"/>
            <a:ext cx="1522476"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Escalation design</a:t>
            </a:r>
            <a:endParaRPr lang="en-US" sz="1200" dirty="0"/>
          </a:p>
        </p:txBody>
      </p:sp>
      <p:sp>
        <p:nvSpPr>
          <p:cNvPr id="10" name="Shape 8"/>
          <p:cNvSpPr/>
          <p:nvPr/>
        </p:nvSpPr>
        <p:spPr>
          <a:xfrm>
            <a:off x="5554980" y="2057400"/>
            <a:ext cx="1289304" cy="384048"/>
          </a:xfrm>
          <a:prstGeom prst="roundRect">
            <a:avLst>
              <a:gd name="adj" fmla="val 50000"/>
            </a:avLst>
          </a:prstGeom>
          <a:solidFill>
            <a:srgbClr val="1E2761"/>
          </a:solidFill>
          <a:ln/>
        </p:spPr>
      </p:sp>
      <p:sp>
        <p:nvSpPr>
          <p:cNvPr id="11" name="Text 9"/>
          <p:cNvSpPr/>
          <p:nvPr/>
        </p:nvSpPr>
        <p:spPr>
          <a:xfrm>
            <a:off x="5554980" y="2057400"/>
            <a:ext cx="1289304"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RACI ownership</a:t>
            </a:r>
            <a:endParaRPr lang="en-US" sz="1200" dirty="0"/>
          </a:p>
        </p:txBody>
      </p:sp>
      <p:sp>
        <p:nvSpPr>
          <p:cNvPr id="12" name="Shape 10"/>
          <p:cNvSpPr/>
          <p:nvPr/>
        </p:nvSpPr>
        <p:spPr>
          <a:xfrm>
            <a:off x="6990588" y="2057400"/>
            <a:ext cx="978408" cy="384048"/>
          </a:xfrm>
          <a:prstGeom prst="roundRect">
            <a:avLst>
              <a:gd name="adj" fmla="val 50000"/>
            </a:avLst>
          </a:prstGeom>
          <a:solidFill>
            <a:srgbClr val="1E2761"/>
          </a:solidFill>
          <a:ln/>
        </p:spPr>
      </p:sp>
      <p:sp>
        <p:nvSpPr>
          <p:cNvPr id="13" name="Text 11"/>
          <p:cNvSpPr/>
          <p:nvPr/>
        </p:nvSpPr>
        <p:spPr>
          <a:xfrm>
            <a:off x="6990588" y="2057400"/>
            <a:ext cx="97840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Compliance</a:t>
            </a:r>
            <a:endParaRPr lang="en-US" sz="1200" dirty="0"/>
          </a:p>
        </p:txBody>
      </p:sp>
      <p:sp>
        <p:nvSpPr>
          <p:cNvPr id="14" name="Shape 12"/>
          <p:cNvSpPr/>
          <p:nvPr/>
        </p:nvSpPr>
        <p:spPr>
          <a:xfrm>
            <a:off x="548640" y="2569464"/>
            <a:ext cx="1600200" cy="384048"/>
          </a:xfrm>
          <a:prstGeom prst="roundRect">
            <a:avLst>
              <a:gd name="adj" fmla="val 50000"/>
            </a:avLst>
          </a:prstGeom>
          <a:solidFill>
            <a:srgbClr val="1E2761"/>
          </a:solidFill>
          <a:ln/>
        </p:spPr>
      </p:sp>
      <p:sp>
        <p:nvSpPr>
          <p:cNvPr id="15" name="Text 13"/>
          <p:cNvSpPr/>
          <p:nvPr/>
        </p:nvSpPr>
        <p:spPr>
          <a:xfrm>
            <a:off x="548640" y="2569464"/>
            <a:ext cx="160020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Records management</a:t>
            </a:r>
            <a:endParaRPr lang="en-US" sz="1200" dirty="0"/>
          </a:p>
        </p:txBody>
      </p:sp>
      <p:sp>
        <p:nvSpPr>
          <p:cNvPr id="16" name="Shape 14"/>
          <p:cNvSpPr/>
          <p:nvPr/>
        </p:nvSpPr>
        <p:spPr>
          <a:xfrm>
            <a:off x="2295144" y="2569464"/>
            <a:ext cx="1444752" cy="384048"/>
          </a:xfrm>
          <a:prstGeom prst="roundRect">
            <a:avLst>
              <a:gd name="adj" fmla="val 50000"/>
            </a:avLst>
          </a:prstGeom>
          <a:solidFill>
            <a:srgbClr val="1E2761"/>
          </a:solidFill>
          <a:ln/>
        </p:spPr>
      </p:sp>
      <p:sp>
        <p:nvSpPr>
          <p:cNvPr id="17" name="Text 15"/>
          <p:cNvSpPr/>
          <p:nvPr/>
        </p:nvSpPr>
        <p:spPr>
          <a:xfrm>
            <a:off x="2295144" y="2569464"/>
            <a:ext cx="1444752"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Business writing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04A"/>
        </a:solidFill>
      </p:bgPr>
    </p:bg>
    <p:spTree>
      <p:nvGrpSpPr>
        <p:cNvPr id="1" name=""/>
        <p:cNvGrpSpPr/>
        <p:nvPr/>
      </p:nvGrpSpPr>
      <p:grpSpPr>
        <a:xfrm>
          <a:off x="0" y="0"/>
          <a:ext cx="0" cy="0"/>
          <a:chOff x="0" y="0"/>
          <a:chExt cx="0" cy="0"/>
        </a:xfrm>
      </p:grpSpPr>
      <p:sp>
        <p:nvSpPr>
          <p:cNvPr id="2" name="Shape 0"/>
          <p:cNvSpPr/>
          <p:nvPr/>
        </p:nvSpPr>
        <p:spPr>
          <a:xfrm>
            <a:off x="-1188720" y="3108960"/>
            <a:ext cx="3657600" cy="3657600"/>
          </a:xfrm>
          <a:prstGeom prst="ellipse">
            <a:avLst/>
          </a:prstGeom>
          <a:solidFill>
            <a:srgbClr val="4F8FF7">
              <a:alpha val="18000"/>
            </a:srgbClr>
          </a:solidFill>
          <a:ln/>
        </p:spPr>
      </p:sp>
      <p:sp>
        <p:nvSpPr>
          <p:cNvPr id="3" name="Text 1"/>
          <p:cNvSpPr/>
          <p:nvPr/>
        </p:nvSpPr>
        <p:spPr>
          <a:xfrm>
            <a:off x="731520" y="1554480"/>
            <a:ext cx="7680960" cy="12801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entury Schoolbook" pitchFamily="34" charset="0"/>
                <a:ea typeface="Century Schoolbook" pitchFamily="34" charset="-122"/>
                <a:cs typeface="Century Schoolbook" pitchFamily="34" charset="-120"/>
              </a:rPr>
              <a:t>Clear procedures reduce errors, speed escalation, and stand up to audit.</a:t>
            </a:r>
            <a:endParaRPr lang="en-US" sz="2600" dirty="0"/>
          </a:p>
        </p:txBody>
      </p:sp>
      <p:sp>
        <p:nvSpPr>
          <p:cNvPr id="4" name="Text 2"/>
          <p:cNvSpPr/>
          <p:nvPr/>
        </p:nvSpPr>
        <p:spPr>
          <a:xfrm>
            <a:off x="749808" y="2971800"/>
            <a:ext cx="7315200" cy="457200"/>
          </a:xfrm>
          <a:prstGeom prst="rect">
            <a:avLst/>
          </a:prstGeom>
          <a:noFill/>
          <a:ln/>
        </p:spPr>
        <p:txBody>
          <a:bodyPr wrap="square" lIns="0" tIns="0" rIns="0" bIns="0" rtlCol="0" anchor="ctr"/>
          <a:lstStyle/>
          <a:p>
            <a:pPr indent="0" marL="0">
              <a:buNone/>
            </a:pPr>
            <a:r>
              <a:rPr lang="en-US" sz="1800" b="1" dirty="0">
                <a:solidFill>
                  <a:srgbClr val="4F8FF7"/>
                </a:solidFill>
                <a:latin typeface="Calibri" pitchFamily="34" charset="0"/>
                <a:ea typeface="Calibri" pitchFamily="34" charset="-122"/>
                <a:cs typeface="Calibri" pitchFamily="34" charset="-120"/>
              </a:rPr>
              <a:t>Yusuf Hakeem</a:t>
            </a:r>
            <a:endParaRPr lang="en-US" sz="1800" dirty="0"/>
          </a:p>
        </p:txBody>
      </p:sp>
      <p:sp>
        <p:nvSpPr>
          <p:cNvPr id="5" name="Text 3"/>
          <p:cNvSpPr/>
          <p:nvPr/>
        </p:nvSpPr>
        <p:spPr>
          <a:xfrm>
            <a:off x="749808" y="3429000"/>
            <a:ext cx="8229600" cy="365760"/>
          </a:xfrm>
          <a:prstGeom prst="rect">
            <a:avLst/>
          </a:prstGeom>
          <a:noFill/>
          <a:ln/>
        </p:spPr>
        <p:txBody>
          <a:bodyPr wrap="square" lIns="0" tIns="0" rIns="0" bIns="0" rtlCol="0" anchor="ctr"/>
          <a:lstStyle/>
          <a:p>
            <a:pPr indent="0" marL="0">
              <a:buNone/>
            </a:pPr>
            <a:r>
              <a:rPr lang="en-US" sz="1250" dirty="0">
                <a:solidFill>
                  <a:srgbClr val="D9E2EC"/>
                </a:solidFill>
                <a:latin typeface="Calibri" pitchFamily="34" charset="0"/>
                <a:ea typeface="Calibri" pitchFamily="34" charset="-122"/>
                <a:cs typeface="Calibri" pitchFamily="34" charset="-120"/>
              </a:rPr>
              <a:t>Manama, Bahrain  •  yusufhakeem.app  •  github.com/ysa7799  •  +973 6666 9795</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Shift Handover SOP</dc:title>
  <dc:subject>PptxGenJS Presentation</dc:subject>
  <dc:creator>Yusuf Hakeem</dc:creator>
  <cp:lastModifiedBy>Yusuf Hakeem</cp:lastModifiedBy>
  <cp:revision>1</cp:revision>
  <dcterms:created xsi:type="dcterms:W3CDTF">2026-07-04T07:21:07Z</dcterms:created>
  <dcterms:modified xsi:type="dcterms:W3CDTF">2026-07-04T07:21:07Z</dcterms:modified>
</cp:coreProperties>
</file>